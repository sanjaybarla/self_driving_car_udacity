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BC3A1-F3AC-2B31-9A92-643D42F96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80863-0FDB-B37A-F401-B29EECC0C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C1FA1-AA43-7AAE-741F-39D5F1A5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0B891-0219-15E7-1E95-D6781FD00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1AD17-665A-71E7-C27E-21D3B9F9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176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1656-7627-923E-C157-FB7F1E4B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7BA53-C46A-4DD9-19CD-432244659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18CE8-06F2-D9B2-A679-11E01085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DB6EC-435B-A195-DEA4-B44A1D19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B5EE0-A6B9-EDFE-B783-06D0840C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435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B0AB-2457-00F3-8021-C735B6F3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1C119-DEBD-6CB9-FE38-CB86C2C17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3C3EB-38C6-957B-2321-0FF5EA23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E5872-6587-58A6-6A03-CD4E8838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BD83F-C7B9-58AE-F259-1A208DD3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71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35CA-C29E-3F2A-AA65-1995CBE4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C2AB7-CFDA-4556-391F-4C9EC72EC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FDEF9-74AB-DC10-AE90-4439415A5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6E926-8C30-EE22-12F1-8F459CCB5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D0191-88D8-E317-54C2-C2B81B5B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843D7-A2DA-8046-2F5B-79293654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8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8D47D-A8B1-81F6-FDC7-55CC38564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39974-74D2-F6FD-EC06-BAD7439C8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E1C92-FA7B-AC21-01E0-5CB08463E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CE7A5-288C-D2A2-889C-438261E3B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CA10B-2558-C150-B31B-DE6760CB5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0724D-507A-0379-818E-CD1B3C476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64FEA-8E1F-D1A4-6C7F-B5D0A588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7096B0-51D4-7B60-9B37-7D847DF2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27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7DD4-E543-0921-7F0E-E35A8600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89F088-05B9-CC0A-7E91-4BA479EB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41D97-BEE9-1A0B-8B2A-61432134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94942-A8B8-76F1-D595-D19DF9AD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40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E33537-8872-A032-A183-44B55A65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5C364-B54D-2C8E-BFF5-5CDFF6A2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0EA8B-5095-5B70-6F22-B42E81CA9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020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22E5-29BA-AF1C-E22F-BE0E87882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F106-F32D-54FD-16D9-A26C975C8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CBBDF-D8ED-E710-DDED-6A0BF754F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78068-7DBA-55E7-3B38-418F9E07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2E51E-4EA5-54A8-95E0-973937FA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8B7ED-3B7A-E06C-8F32-1024643E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15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0F6A-E555-F7AA-A024-6F51CF8D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5EF6DA-1598-BEBC-1315-916FE3369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AA909-F608-DC76-CCAE-BAD8FC372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84560-5388-BAB0-9D22-9467FB4B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70308-7262-C855-6747-35A4B612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1183D-1475-D273-5105-B21CBE3B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149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ACDD-E7F9-6C20-5C25-81D0837A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E7553-E49D-7016-4FFE-9C5970099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66242-4DE6-FDE3-03C3-3EDD9FB2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B8BF-D627-C89B-ACDC-1916FD1E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799E0-3058-3B15-8111-45B0497D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03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0286CE-C5A6-EEF5-AAD4-F201ACA8C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7EBC0-79E7-2E63-C975-A4BE9867C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5100-094C-2DE9-8027-A5C124565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2F27E-8013-31E5-4004-A5F02184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AD4EF-DFC4-E163-7B8B-F443F87E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45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3270A-BCC4-68BB-7DCC-1245CCBEC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5A154-AC48-3672-E1A6-F4CDD0308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6485A-91F1-6E94-E658-2F3A014DD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3A182-C540-4C9C-8253-A68F5B1F2976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6A9AC-9FFC-8CAB-BA8C-64795575E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D04FE-AF16-CA3F-789A-66E20F241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402F1-76ED-4ED9-AD80-F6417FB804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00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9D1AB9-5B54-0430-CE3A-92EF54A14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C6F35D-E9C4-5E19-F4D3-BEE4654BA7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SIMULATION OF SELF DRIVING CAR USNIG DEEP LEARNING</a:t>
            </a:r>
          </a:p>
          <a:p>
            <a:pPr algn="ctr"/>
            <a:endParaRPr lang="en-IN" sz="3200" b="1" dirty="0"/>
          </a:p>
          <a:p>
            <a:pPr algn="ctr"/>
            <a:endParaRPr lang="en-IN" sz="3200" b="1" dirty="0"/>
          </a:p>
          <a:p>
            <a:pPr algn="ctr"/>
            <a:r>
              <a:rPr lang="en-IN" sz="3200" b="1" u="sng" dirty="0"/>
              <a:t>SUBMITTED BY</a:t>
            </a:r>
          </a:p>
          <a:p>
            <a:pPr algn="ctr"/>
            <a:r>
              <a:rPr lang="en-IN" sz="2000" b="1" dirty="0"/>
              <a:t>B. SANJAY(S190386)</a:t>
            </a:r>
          </a:p>
          <a:p>
            <a:pPr algn="ctr"/>
            <a:r>
              <a:rPr lang="en-US" sz="2000" b="1" dirty="0"/>
              <a:t>M. CHINNA RAO(S190189) </a:t>
            </a:r>
          </a:p>
          <a:p>
            <a:pPr algn="ctr"/>
            <a:r>
              <a:rPr lang="en-US" sz="2000" b="1" dirty="0"/>
              <a:t>K. SAI KISHORE(S190967) </a:t>
            </a:r>
          </a:p>
          <a:p>
            <a:pPr algn="ctr"/>
            <a:r>
              <a:rPr lang="en-US" sz="2000" b="1" dirty="0"/>
              <a:t>K. Asritha(S190289)</a:t>
            </a:r>
            <a:endParaRPr lang="en-IN" sz="2000" b="1" dirty="0"/>
          </a:p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657129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D6E11-E896-7626-945B-24D944D0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A7D585-95D0-B126-BD29-869FB511D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6D86B5-A008-818B-8A66-3EBC5C78E6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DA809-D72F-C0A6-574E-6FA83EEAE2AA}"/>
              </a:ext>
            </a:extLst>
          </p:cNvPr>
          <p:cNvSpPr txBox="1"/>
          <p:nvPr/>
        </p:nvSpPr>
        <p:spPr>
          <a:xfrm>
            <a:off x="4194927" y="405352"/>
            <a:ext cx="3114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B3A44-5B4F-BFA7-9860-1B4878161E01}"/>
              </a:ext>
            </a:extLst>
          </p:cNvPr>
          <p:cNvSpPr txBox="1"/>
          <p:nvPr/>
        </p:nvSpPr>
        <p:spPr>
          <a:xfrm>
            <a:off x="702296" y="1614656"/>
            <a:ext cx="108942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Overview:</a:t>
            </a:r>
            <a:endParaRPr lang="en-US" b="1" i="0" dirty="0">
              <a:solidFill>
                <a:srgbClr val="ECECEC"/>
              </a:solidFill>
              <a:effectLst/>
              <a:latin typeface="ui-sans-serif"/>
            </a:endParaRPr>
          </a:p>
          <a:p>
            <a:pPr algn="just"/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Autonomous driving has gained significant attention due to its potential to improve road safety, reduce traffic accidents, and save time. A key challenge is accurately predicting the steering angle from camera images of the vehicle’s surroundings. </a:t>
            </a:r>
          </a:p>
          <a:p>
            <a:pPr algn="just"/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This project aims to solve this by using </a:t>
            </a: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Convolutional Neural Networks (CNNs)</a:t>
            </a: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 to predict the vehicle's steering angle based on images collected from a driving simulator.</a:t>
            </a:r>
          </a:p>
          <a:p>
            <a:pPr algn="just"/>
            <a:endParaRPr lang="en-US" b="0" i="0" dirty="0">
              <a:solidFill>
                <a:srgbClr val="ECECEC"/>
              </a:solidFill>
              <a:effectLst/>
              <a:latin typeface="ui-sans-serif"/>
            </a:endParaRPr>
          </a:p>
          <a:p>
            <a:pPr algn="just"/>
            <a:endParaRPr lang="en-US" sz="2000" b="1" dirty="0">
              <a:solidFill>
                <a:srgbClr val="ECECEC"/>
              </a:solidFill>
              <a:latin typeface="ui-sans-serif"/>
            </a:endParaRPr>
          </a:p>
          <a:p>
            <a:pPr algn="just"/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Objective:</a:t>
            </a:r>
          </a:p>
          <a:p>
            <a:pPr algn="just"/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The main objective is to predict the steering angle from camera images in the range of -1 to 1 (left to right), based on visual input using CNN-based models.</a:t>
            </a:r>
          </a:p>
          <a:p>
            <a:pPr algn="just"/>
            <a:endParaRPr lang="en-US" dirty="0">
              <a:solidFill>
                <a:srgbClr val="ECECEC"/>
              </a:solidFill>
              <a:latin typeface="ui-sans-serif"/>
            </a:endParaRPr>
          </a:p>
          <a:p>
            <a:pPr algn="just"/>
            <a:endParaRPr lang="en-US" b="0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3B621-2DE1-FD3B-0A66-CED76CFBDD76}"/>
              </a:ext>
            </a:extLst>
          </p:cNvPr>
          <p:cNvSpPr txBox="1"/>
          <p:nvPr/>
        </p:nvSpPr>
        <p:spPr>
          <a:xfrm>
            <a:off x="2739151" y="5400308"/>
            <a:ext cx="6713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Steering_Angle(y) = f(Image_Data)</a:t>
            </a:r>
          </a:p>
        </p:txBody>
      </p:sp>
    </p:spTree>
    <p:extLst>
      <p:ext uri="{BB962C8B-B14F-4D97-AF65-F5344CB8AC3E}">
        <p14:creationId xmlns:p14="http://schemas.microsoft.com/office/powerpoint/2010/main" val="167443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B561-2E9F-5A16-929D-4A03286C4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5764A3-6F30-CB4D-DD10-E8DEE250B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236C7-202C-2146-5A3B-FDC5D06324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1D6B6-1289-1F39-759A-3392F05CD805}"/>
              </a:ext>
            </a:extLst>
          </p:cNvPr>
          <p:cNvSpPr txBox="1"/>
          <p:nvPr/>
        </p:nvSpPr>
        <p:spPr>
          <a:xfrm>
            <a:off x="4034897" y="411252"/>
            <a:ext cx="4229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12BC4-7608-CC58-DFAA-1485C9256EE5}"/>
              </a:ext>
            </a:extLst>
          </p:cNvPr>
          <p:cNvSpPr txBox="1"/>
          <p:nvPr/>
        </p:nvSpPr>
        <p:spPr>
          <a:xfrm>
            <a:off x="674015" y="1963447"/>
            <a:ext cx="5528822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Given images captured from various angles (left, center, right), the task is to predict the vehicle's steering angle to ensure safe and accurate autonomous driving.</a:t>
            </a:r>
            <a:endParaRPr lang="en-US" dirty="0">
              <a:solidFill>
                <a:srgbClr val="ECECEC"/>
              </a:solidFill>
              <a:latin typeface="ui-sans-serif"/>
            </a:endParaRPr>
          </a:p>
          <a:p>
            <a:pPr algn="just"/>
            <a:endParaRPr lang="en-US" b="0" i="0" dirty="0">
              <a:solidFill>
                <a:srgbClr val="ECECEC"/>
              </a:solidFill>
              <a:effectLst/>
              <a:latin typeface="ui-sans-serif"/>
            </a:endParaRPr>
          </a:p>
          <a:p>
            <a:pPr algn="just"/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Challenges:</a:t>
            </a:r>
            <a:endParaRPr lang="en-US" b="1" dirty="0">
              <a:solidFill>
                <a:srgbClr val="ECECEC"/>
              </a:solidFill>
              <a:latin typeface="ui-sans-serif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Dealing with diverse road conditions.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ECECEC"/>
                </a:solidFill>
                <a:latin typeface="ui-sans-serif"/>
              </a:rPr>
              <a:t>Handling Large Variations in steering angles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Generalizing to new tracks and real-world scenarios.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42CCC6E-919C-C464-6D0C-3DB7C2FF1BD0}"/>
              </a:ext>
            </a:extLst>
          </p:cNvPr>
          <p:cNvGrpSpPr/>
          <p:nvPr/>
        </p:nvGrpSpPr>
        <p:grpSpPr>
          <a:xfrm>
            <a:off x="6777063" y="1756760"/>
            <a:ext cx="4505026" cy="4689988"/>
            <a:chOff x="6748782" y="1963447"/>
            <a:chExt cx="4505026" cy="468998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C11092-1363-D919-95CF-AD92E23892C3}"/>
                </a:ext>
              </a:extLst>
            </p:cNvPr>
            <p:cNvSpPr txBox="1"/>
            <p:nvPr/>
          </p:nvSpPr>
          <p:spPr>
            <a:xfrm>
              <a:off x="8809698" y="2515864"/>
              <a:ext cx="7505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CENTER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1D4EC45-F9EB-A41C-DE29-B2CF5661A6F7}"/>
                </a:ext>
              </a:extLst>
            </p:cNvPr>
            <p:cNvGrpSpPr/>
            <p:nvPr/>
          </p:nvGrpSpPr>
          <p:grpSpPr>
            <a:xfrm>
              <a:off x="6748782" y="1963447"/>
              <a:ext cx="4505026" cy="4689988"/>
              <a:chOff x="6748782" y="1963447"/>
              <a:chExt cx="4505026" cy="468998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2F07BC0-FC40-7C57-9041-4891E194181D}"/>
                  </a:ext>
                </a:extLst>
              </p:cNvPr>
              <p:cNvSpPr/>
              <p:nvPr/>
            </p:nvSpPr>
            <p:spPr>
              <a:xfrm>
                <a:off x="10210800" y="1963447"/>
                <a:ext cx="1043008" cy="440388"/>
              </a:xfrm>
              <a:prstGeom prst="rect">
                <a:avLst/>
              </a:prstGeom>
              <a:blipFill dpi="0"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23A79D-7952-4B8E-C2D8-9B30C688A8D7}"/>
                  </a:ext>
                </a:extLst>
              </p:cNvPr>
              <p:cNvSpPr txBox="1"/>
              <p:nvPr/>
            </p:nvSpPr>
            <p:spPr>
              <a:xfrm>
                <a:off x="10299513" y="2521124"/>
                <a:ext cx="65595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1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RIGHT</a:t>
                </a:r>
              </a:p>
            </p:txBody>
          </p:sp>
          <p:sp>
            <p:nvSpPr>
              <p:cNvPr id="21" name="Arrow: Down 20">
                <a:extLst>
                  <a:ext uri="{FF2B5EF4-FFF2-40B4-BE49-F238E27FC236}">
                    <a16:creationId xmlns:a16="http://schemas.microsoft.com/office/drawing/2014/main" id="{E26CA3FC-E521-297A-877F-5AEE2A24B9B5}"/>
                  </a:ext>
                </a:extLst>
              </p:cNvPr>
              <p:cNvSpPr/>
              <p:nvPr/>
            </p:nvSpPr>
            <p:spPr>
              <a:xfrm>
                <a:off x="9068225" y="2851226"/>
                <a:ext cx="338290" cy="261610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A51C23B-E6FB-AEF3-1676-0E5D3C02B7C5}"/>
                  </a:ext>
                </a:extLst>
              </p:cNvPr>
              <p:cNvGrpSpPr/>
              <p:nvPr/>
            </p:nvGrpSpPr>
            <p:grpSpPr>
              <a:xfrm>
                <a:off x="6748782" y="1963447"/>
                <a:ext cx="4505026" cy="4689988"/>
                <a:chOff x="6748782" y="1963447"/>
                <a:chExt cx="4505026" cy="4689988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0292C29-3818-33F7-F756-9CD2AE20E81C}"/>
                    </a:ext>
                  </a:extLst>
                </p:cNvPr>
                <p:cNvSpPr/>
                <p:nvPr/>
              </p:nvSpPr>
              <p:spPr>
                <a:xfrm>
                  <a:off x="7220932" y="1963447"/>
                  <a:ext cx="1043008" cy="440388"/>
                </a:xfrm>
                <a:prstGeom prst="rect">
                  <a:avLst/>
                </a:prstGeom>
                <a:blipFill dpi="0"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9D69A95-0096-1448-ACF9-E0B117A1FDB3}"/>
                    </a:ext>
                  </a:extLst>
                </p:cNvPr>
                <p:cNvSpPr/>
                <p:nvPr/>
              </p:nvSpPr>
              <p:spPr>
                <a:xfrm>
                  <a:off x="8663458" y="1963447"/>
                  <a:ext cx="1043008" cy="440388"/>
                </a:xfrm>
                <a:prstGeom prst="rect">
                  <a:avLst/>
                </a:prstGeom>
                <a:blipFill dpi="0"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9F5CE08-14F4-18AC-5423-87030B1FC8F6}"/>
                    </a:ext>
                  </a:extLst>
                </p:cNvPr>
                <p:cNvSpPr txBox="1"/>
                <p:nvPr/>
              </p:nvSpPr>
              <p:spPr>
                <a:xfrm>
                  <a:off x="7482589" y="2537580"/>
                  <a:ext cx="51969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100" b="1" dirty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LEFT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C11E656-53EF-DE68-EFD4-EF9A2A378A16}"/>
                    </a:ext>
                  </a:extLst>
                </p:cNvPr>
                <p:cNvSpPr/>
                <p:nvPr/>
              </p:nvSpPr>
              <p:spPr>
                <a:xfrm>
                  <a:off x="7220932" y="3232822"/>
                  <a:ext cx="4032876" cy="16968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dk1">
                        <a:tint val="66000"/>
                        <a:satMod val="160000"/>
                      </a:schemeClr>
                    </a:gs>
                    <a:gs pos="50000">
                      <a:schemeClr val="dk1">
                        <a:tint val="44500"/>
                        <a:satMod val="160000"/>
                      </a:schemeClr>
                    </a:gs>
                    <a:gs pos="100000">
                      <a:schemeClr val="dk1"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" name="Arrow: Down 19">
                  <a:extLst>
                    <a:ext uri="{FF2B5EF4-FFF2-40B4-BE49-F238E27FC236}">
                      <a16:creationId xmlns:a16="http://schemas.microsoft.com/office/drawing/2014/main" id="{0891F3F5-47D1-8F8C-4BB0-0FB0EAE0CFD8}"/>
                    </a:ext>
                  </a:extLst>
                </p:cNvPr>
                <p:cNvSpPr/>
                <p:nvPr/>
              </p:nvSpPr>
              <p:spPr>
                <a:xfrm>
                  <a:off x="7573290" y="2851226"/>
                  <a:ext cx="338290" cy="261610"/>
                </a:xfrm>
                <a:prstGeom prst="downArrow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2" name="Arrow: Down 21">
                  <a:extLst>
                    <a:ext uri="{FF2B5EF4-FFF2-40B4-BE49-F238E27FC236}">
                      <a16:creationId xmlns:a16="http://schemas.microsoft.com/office/drawing/2014/main" id="{A383B3A6-0816-0576-5BFE-73E5D298EDD6}"/>
                    </a:ext>
                  </a:extLst>
                </p:cNvPr>
                <p:cNvSpPr/>
                <p:nvPr/>
              </p:nvSpPr>
              <p:spPr>
                <a:xfrm>
                  <a:off x="10563160" y="2851226"/>
                  <a:ext cx="338290" cy="261610"/>
                </a:xfrm>
                <a:prstGeom prst="downArrow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" name="Arrow: Down 22">
                  <a:extLst>
                    <a:ext uri="{FF2B5EF4-FFF2-40B4-BE49-F238E27FC236}">
                      <a16:creationId xmlns:a16="http://schemas.microsoft.com/office/drawing/2014/main" id="{17A12EF4-A9D2-FD4C-EA7A-02D3CFC6E689}"/>
                    </a:ext>
                  </a:extLst>
                </p:cNvPr>
                <p:cNvSpPr/>
                <p:nvPr/>
              </p:nvSpPr>
              <p:spPr>
                <a:xfrm>
                  <a:off x="9068225" y="3562924"/>
                  <a:ext cx="338290" cy="261610"/>
                </a:xfrm>
                <a:prstGeom prst="downArrow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EF533F6B-0053-8E39-A193-98C965C432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6540" y="3836137"/>
                  <a:ext cx="1600399" cy="1600399"/>
                </a:xfrm>
                <a:prstGeom prst="rect">
                  <a:avLst/>
                </a:prstGeom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B89CDC7F-E9D3-A89F-507D-02A0DC7EB7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1737" y="5523955"/>
                  <a:ext cx="821703" cy="821703"/>
                </a:xfrm>
                <a:prstGeom prst="rect">
                  <a:avLst/>
                </a:prstGeom>
              </p:spPr>
            </p:pic>
            <p:sp>
              <p:nvSpPr>
                <p:cNvPr id="31" name="Arrow: Left-Up 30">
                  <a:extLst>
                    <a:ext uri="{FF2B5EF4-FFF2-40B4-BE49-F238E27FC236}">
                      <a16:creationId xmlns:a16="http://schemas.microsoft.com/office/drawing/2014/main" id="{3AB4D3DC-DF9E-7825-B532-4FAD42D546F3}"/>
                    </a:ext>
                  </a:extLst>
                </p:cNvPr>
                <p:cNvSpPr/>
                <p:nvPr/>
              </p:nvSpPr>
              <p:spPr>
                <a:xfrm>
                  <a:off x="8110231" y="5573989"/>
                  <a:ext cx="1296284" cy="518475"/>
                </a:xfrm>
                <a:prstGeom prst="leftUpArrow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C1CE248-C0A7-729D-2D7F-25BADAA58708}"/>
                    </a:ext>
                  </a:extLst>
                </p:cNvPr>
                <p:cNvSpPr txBox="1"/>
                <p:nvPr/>
              </p:nvSpPr>
              <p:spPr>
                <a:xfrm>
                  <a:off x="6748782" y="6345658"/>
                  <a:ext cx="151515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N" sz="1400" b="1" dirty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Steering Angle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4855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F8D8A-8FBF-38EC-2C57-59E7445B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4B988C-7123-C043-59CF-EDA518FB3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7E7FCE-8C3D-9B45-DAB2-C95707D2FC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5DA1A-C330-B9E4-3C28-F2D0BE854A19}"/>
              </a:ext>
            </a:extLst>
          </p:cNvPr>
          <p:cNvSpPr txBox="1"/>
          <p:nvPr/>
        </p:nvSpPr>
        <p:spPr>
          <a:xfrm>
            <a:off x="4345883" y="411252"/>
            <a:ext cx="3607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COLLECTION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429A5-3BB2-3663-1038-2B57968323E0}"/>
              </a:ext>
            </a:extLst>
          </p:cNvPr>
          <p:cNvSpPr txBox="1"/>
          <p:nvPr/>
        </p:nvSpPr>
        <p:spPr>
          <a:xfrm>
            <a:off x="372357" y="1859752"/>
            <a:ext cx="6669466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The data for this project was collected using </a:t>
            </a:r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Udacity’s Self-Driving Car Simulator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 in training model.</a:t>
            </a:r>
          </a:p>
          <a:p>
            <a:pPr algn="just"/>
            <a:endParaRPr lang="en-US" sz="2000" dirty="0">
              <a:solidFill>
                <a:srgbClr val="ECECEC"/>
              </a:solidFill>
              <a:latin typeface="ui-sans-serif"/>
            </a:endParaRPr>
          </a:p>
          <a:p>
            <a:pPr algn="just"/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Method: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Images were captured from three different camera angles: </a:t>
            </a: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left</a:t>
            </a: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, </a:t>
            </a: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center</a:t>
            </a: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, and </a:t>
            </a: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right</a:t>
            </a: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The images are in </a:t>
            </a: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RGB format</a:t>
            </a: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 with a resolution of </a:t>
            </a: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320x160</a:t>
            </a: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 pixels.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A </a:t>
            </a: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CSV file</a:t>
            </a: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 was automatically generated that contains the image paths and their corresponding steering angles (ranging from -1 to 1).</a:t>
            </a:r>
            <a:endParaRPr lang="en-US" b="1" dirty="0">
              <a:solidFill>
                <a:srgbClr val="ECECEC"/>
              </a:solidFill>
              <a:latin typeface="ui-sans-serif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b="1" i="0" dirty="0">
              <a:solidFill>
                <a:srgbClr val="ECECEC"/>
              </a:solidFill>
              <a:effectLst/>
              <a:latin typeface="ui-sans-serif"/>
            </a:endParaRPr>
          </a:p>
          <a:p>
            <a:pPr algn="l"/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Number of Images Collected:</a:t>
            </a:r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 3997 images were collected, with steering angles recorded for both forward and reverse driving.</a:t>
            </a:r>
          </a:p>
          <a:p>
            <a:br>
              <a:rPr lang="en-US" dirty="0"/>
            </a:br>
            <a:endParaRPr lang="en-US" b="0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1E785D-4DA4-7ABB-7CB2-471C9ADFF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580" y="-7709"/>
            <a:ext cx="4809" cy="15389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8B453A-FD60-8F4A-90D6-E2F0BB4AB180}"/>
              </a:ext>
            </a:extLst>
          </p:cNvPr>
          <p:cNvGrpSpPr/>
          <p:nvPr/>
        </p:nvGrpSpPr>
        <p:grpSpPr>
          <a:xfrm>
            <a:off x="7765330" y="1496040"/>
            <a:ext cx="4211427" cy="4001133"/>
            <a:chOff x="7765330" y="1496040"/>
            <a:chExt cx="4211427" cy="4001133"/>
          </a:xfrm>
        </p:grpSpPr>
        <p:sp>
          <p:nvSpPr>
            <p:cNvPr id="28" name="Arrow: Down 27">
              <a:extLst>
                <a:ext uri="{FF2B5EF4-FFF2-40B4-BE49-F238E27FC236}">
                  <a16:creationId xmlns:a16="http://schemas.microsoft.com/office/drawing/2014/main" id="{DF5641A3-CC38-042D-481B-C1CDA550E4E8}"/>
                </a:ext>
              </a:extLst>
            </p:cNvPr>
            <p:cNvSpPr/>
            <p:nvPr/>
          </p:nvSpPr>
          <p:spPr>
            <a:xfrm>
              <a:off x="9695470" y="2548215"/>
              <a:ext cx="377072" cy="433633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CB06A08-03F9-EEC0-9155-17DA729D9BD8}"/>
                </a:ext>
              </a:extLst>
            </p:cNvPr>
            <p:cNvGrpSpPr/>
            <p:nvPr/>
          </p:nvGrpSpPr>
          <p:grpSpPr>
            <a:xfrm>
              <a:off x="7765330" y="1496040"/>
              <a:ext cx="4211427" cy="4001133"/>
              <a:chOff x="7765330" y="1496040"/>
              <a:chExt cx="4211427" cy="400113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33F14BC-D516-4247-7360-2A0D0EAAF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16738" y="1496040"/>
                <a:ext cx="1743960" cy="891013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45D20B8-923D-50DA-5D00-05EFEE8BE6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12026" y="3158575"/>
                <a:ext cx="1743960" cy="891013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634D92C-A651-9CB5-2D4F-831E0939E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232797" y="4789826"/>
                <a:ext cx="1743960" cy="707347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F0E96179-AE73-6EEC-D3F8-D4F3B97D7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765330" y="4805546"/>
                <a:ext cx="1743960" cy="691627"/>
              </a:xfrm>
              <a:prstGeom prst="rect">
                <a:avLst/>
              </a:prstGeom>
            </p:spPr>
          </p:pic>
          <p:sp>
            <p:nvSpPr>
              <p:cNvPr id="29" name="Arrow: Down 28">
                <a:extLst>
                  <a:ext uri="{FF2B5EF4-FFF2-40B4-BE49-F238E27FC236}">
                    <a16:creationId xmlns:a16="http://schemas.microsoft.com/office/drawing/2014/main" id="{6B057A37-21A5-4FB8-AEA1-6CC9A8448289}"/>
                  </a:ext>
                </a:extLst>
              </p:cNvPr>
              <p:cNvSpPr/>
              <p:nvPr/>
            </p:nvSpPr>
            <p:spPr>
              <a:xfrm rot="2095648">
                <a:off x="9149662" y="4210751"/>
                <a:ext cx="377072" cy="433633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Arrow: Down 35">
                <a:extLst>
                  <a:ext uri="{FF2B5EF4-FFF2-40B4-BE49-F238E27FC236}">
                    <a16:creationId xmlns:a16="http://schemas.microsoft.com/office/drawing/2014/main" id="{4785E864-7174-DC03-6EC3-32336DFC30A3}"/>
                  </a:ext>
                </a:extLst>
              </p:cNvPr>
              <p:cNvSpPr/>
              <p:nvPr/>
            </p:nvSpPr>
            <p:spPr>
              <a:xfrm rot="19529711">
                <a:off x="10265694" y="4210985"/>
                <a:ext cx="377072" cy="433633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6085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1310F-DCC0-C059-1BE4-4D5EAE89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873D05-72A7-8DAE-112C-D210D163F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6AC6AE-FC00-4EDA-B5F7-11E237FA42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E113A-2069-9AF5-E8AE-AC32362088D9}"/>
              </a:ext>
            </a:extLst>
          </p:cNvPr>
          <p:cNvSpPr txBox="1"/>
          <p:nvPr/>
        </p:nvSpPr>
        <p:spPr>
          <a:xfrm>
            <a:off x="3872199" y="411252"/>
            <a:ext cx="4554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PRE-PROCESSING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CD639-39FD-E4EF-20FE-5566224D6C2E}"/>
              </a:ext>
            </a:extLst>
          </p:cNvPr>
          <p:cNvSpPr txBox="1"/>
          <p:nvPr/>
        </p:nvSpPr>
        <p:spPr>
          <a:xfrm>
            <a:off x="113123" y="1731407"/>
            <a:ext cx="1207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Images were flipped horizontally and vertically to augment the dataset and make the model more robust to different scenarios.</a:t>
            </a:r>
            <a:endParaRPr lang="en-US" b="1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931A47F-F474-C24F-D0EE-ECDF2FD34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580" y="-7709"/>
            <a:ext cx="4809" cy="15389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AFF4C0-1578-FC7E-01FB-2D858B4FDCB0}"/>
              </a:ext>
            </a:extLst>
          </p:cNvPr>
          <p:cNvGrpSpPr/>
          <p:nvPr/>
        </p:nvGrpSpPr>
        <p:grpSpPr>
          <a:xfrm>
            <a:off x="1509920" y="2578163"/>
            <a:ext cx="9167319" cy="3802412"/>
            <a:chOff x="1529520" y="2282694"/>
            <a:chExt cx="9167319" cy="3802412"/>
          </a:xfrm>
        </p:grpSpPr>
        <p:sp>
          <p:nvSpPr>
            <p:cNvPr id="21" name="Arrow: Down 20">
              <a:extLst>
                <a:ext uri="{FF2B5EF4-FFF2-40B4-BE49-F238E27FC236}">
                  <a16:creationId xmlns:a16="http://schemas.microsoft.com/office/drawing/2014/main" id="{236B50EF-2D44-D51C-37AD-F7F818F87517}"/>
                </a:ext>
              </a:extLst>
            </p:cNvPr>
            <p:cNvSpPr/>
            <p:nvPr/>
          </p:nvSpPr>
          <p:spPr>
            <a:xfrm>
              <a:off x="5732102" y="4205991"/>
              <a:ext cx="449453" cy="273378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CD00ACD-D9B1-2282-6560-86F1FA9EF854}"/>
                </a:ext>
              </a:extLst>
            </p:cNvPr>
            <p:cNvGrpSpPr/>
            <p:nvPr/>
          </p:nvGrpSpPr>
          <p:grpSpPr>
            <a:xfrm>
              <a:off x="1529520" y="2282694"/>
              <a:ext cx="9167319" cy="3802412"/>
              <a:chOff x="1529520" y="2282694"/>
              <a:chExt cx="9167319" cy="3802412"/>
            </a:xfrm>
          </p:grpSpPr>
          <p:sp>
            <p:nvSpPr>
              <p:cNvPr id="20" name="Arrow: Down 19">
                <a:extLst>
                  <a:ext uri="{FF2B5EF4-FFF2-40B4-BE49-F238E27FC236}">
                    <a16:creationId xmlns:a16="http://schemas.microsoft.com/office/drawing/2014/main" id="{03A922F7-D24F-B190-786C-09D989DFD578}"/>
                  </a:ext>
                </a:extLst>
              </p:cNvPr>
              <p:cNvSpPr/>
              <p:nvPr/>
            </p:nvSpPr>
            <p:spPr>
              <a:xfrm>
                <a:off x="2377731" y="4205991"/>
                <a:ext cx="449453" cy="273378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FCBB809-D015-CF44-4768-BFD00BEB27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83557" y="2282694"/>
                <a:ext cx="2248839" cy="1211106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57D9ACB1-D1EB-B5B5-F78D-2C7633238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9520" y="4674272"/>
                <a:ext cx="2595327" cy="1387158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BC643041-23BE-9E62-E0B3-C62B481BF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95916" y="4674272"/>
                <a:ext cx="2595327" cy="1404945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CC02A5D-6DE0-D151-9E7E-BE941C9895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5559" y="4674272"/>
                <a:ext cx="2771280" cy="1410834"/>
              </a:xfrm>
              <a:prstGeom prst="rect">
                <a:avLst/>
              </a:prstGeom>
            </p:spPr>
          </p:pic>
          <p:sp>
            <p:nvSpPr>
              <p:cNvPr id="30" name="Arrow: Down 29">
                <a:extLst>
                  <a:ext uri="{FF2B5EF4-FFF2-40B4-BE49-F238E27FC236}">
                    <a16:creationId xmlns:a16="http://schemas.microsoft.com/office/drawing/2014/main" id="{6B988A58-298D-1677-0BA3-C22F51145955}"/>
                  </a:ext>
                </a:extLst>
              </p:cNvPr>
              <p:cNvSpPr/>
              <p:nvPr/>
            </p:nvSpPr>
            <p:spPr>
              <a:xfrm>
                <a:off x="5732102" y="3676453"/>
                <a:ext cx="449453" cy="273378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38C6F05-2F49-8E16-3540-1C5D4C69E45B}"/>
                  </a:ext>
                </a:extLst>
              </p:cNvPr>
              <p:cNvSpPr/>
              <p:nvPr/>
            </p:nvSpPr>
            <p:spPr>
              <a:xfrm>
                <a:off x="2281287" y="3974257"/>
                <a:ext cx="7400041" cy="11312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Arrow: Down 31">
                <a:extLst>
                  <a:ext uri="{FF2B5EF4-FFF2-40B4-BE49-F238E27FC236}">
                    <a16:creationId xmlns:a16="http://schemas.microsoft.com/office/drawing/2014/main" id="{8743E468-5B05-A569-3EB2-FF572BB85437}"/>
                  </a:ext>
                </a:extLst>
              </p:cNvPr>
              <p:cNvSpPr/>
              <p:nvPr/>
            </p:nvSpPr>
            <p:spPr>
              <a:xfrm>
                <a:off x="9086473" y="4196564"/>
                <a:ext cx="449453" cy="273378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512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820E6-0876-2FF2-3FBA-E82034F9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D6FC21-8F76-82A8-FB26-00E532FE8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A10268-D71B-3FAF-EC52-BC2DDC3DF0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224D0-098E-AD23-E90A-D62E97319D87}"/>
              </a:ext>
            </a:extLst>
          </p:cNvPr>
          <p:cNvSpPr txBox="1"/>
          <p:nvPr/>
        </p:nvSpPr>
        <p:spPr>
          <a:xfrm>
            <a:off x="3935520" y="411252"/>
            <a:ext cx="4427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7A967A-EFB4-DE7F-8EDB-AC753F18A0CD}"/>
              </a:ext>
            </a:extLst>
          </p:cNvPr>
          <p:cNvSpPr txBox="1"/>
          <p:nvPr/>
        </p:nvSpPr>
        <p:spPr>
          <a:xfrm>
            <a:off x="113124" y="1731407"/>
            <a:ext cx="634423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ECECEC"/>
                </a:solidFill>
                <a:effectLst/>
                <a:latin typeface="ui-sans-serif"/>
              </a:rPr>
              <a:t>The model is a deep CNN with multiple layers designed to learn hierarchical features from the input images. Here’s the breakdown:</a:t>
            </a:r>
          </a:p>
          <a:p>
            <a:pPr algn="just"/>
            <a:endParaRPr lang="en-US" b="1" dirty="0">
              <a:solidFill>
                <a:srgbClr val="ECECEC"/>
              </a:solidFill>
              <a:latin typeface="ui-sans-serif"/>
            </a:endParaRPr>
          </a:p>
          <a:p>
            <a:pPr algn="just"/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Model Layers (Total 11 Layers):</a:t>
            </a:r>
          </a:p>
          <a:p>
            <a:pPr algn="just"/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ECECEC"/>
                </a:solidFill>
                <a:latin typeface="ui-sans-serif"/>
              </a:rPr>
              <a:t>Convolution Layers(2D) – Extract spatial features from the images.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ECECEC"/>
                </a:solidFill>
                <a:latin typeface="ui-sans-serif"/>
              </a:rPr>
              <a:t>Activation Function(ELU) – Used to avoid dead neurons.</a:t>
            </a:r>
          </a:p>
          <a:p>
            <a:pPr marL="342900" indent="-342900" algn="just">
              <a:buFont typeface="+mj-lt"/>
              <a:buAutoNum type="arabicPeriod"/>
            </a:pPr>
            <a:endParaRPr lang="en-US" b="1" dirty="0">
              <a:solidFill>
                <a:srgbClr val="ECECEC"/>
              </a:solidFill>
              <a:latin typeface="ui-sans-serif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b="1" dirty="0">
              <a:solidFill>
                <a:srgbClr val="ECECEC"/>
              </a:solidFill>
              <a:latin typeface="ui-sans-serif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b="1" dirty="0">
              <a:solidFill>
                <a:srgbClr val="ECECEC"/>
              </a:solidFill>
              <a:latin typeface="ui-sans-serif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Flatten Layer – Convert 2D to 1D Vector.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ECECEC"/>
                </a:solidFill>
                <a:latin typeface="ui-sans-serif"/>
              </a:rPr>
              <a:t>Dense Layers – Fully connected layers for steering angle prediction.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i="0" dirty="0">
                <a:solidFill>
                  <a:srgbClr val="ECECEC"/>
                </a:solidFill>
                <a:effectLst/>
                <a:latin typeface="ui-sans-serif"/>
              </a:rPr>
              <a:t>Output Layer – A single neuron to predict the steering angle(regression problem).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86E43B5-5520-E859-D718-33CAB2233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580" y="-7709"/>
            <a:ext cx="4809" cy="15389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06FC5F-BBF1-77E9-086D-0C0A7D4CC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097" y="4003662"/>
            <a:ext cx="2532423" cy="8538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59E607-0C33-CA27-15DB-D753F001F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846" y="934472"/>
            <a:ext cx="2496560" cy="572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6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EDB4-EAB3-D310-1259-47617EAA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994BD7-82CC-1A0F-D3FC-7DC19F848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5B5F2A-9537-85B1-632C-F04A2C4763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96081-2CE4-ACEF-FC29-95E4B373FC7F}"/>
              </a:ext>
            </a:extLst>
          </p:cNvPr>
          <p:cNvSpPr txBox="1"/>
          <p:nvPr/>
        </p:nvSpPr>
        <p:spPr>
          <a:xfrm>
            <a:off x="3679044" y="411252"/>
            <a:ext cx="4940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&amp; 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2033B-9BF3-FC9F-0DB5-1FFD9C0B5C50}"/>
              </a:ext>
            </a:extLst>
          </p:cNvPr>
          <p:cNvSpPr txBox="1"/>
          <p:nvPr/>
        </p:nvSpPr>
        <p:spPr>
          <a:xfrm>
            <a:off x="216818" y="1338044"/>
            <a:ext cx="634423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ECECEC"/>
                </a:solidFill>
                <a:effectLst/>
                <a:latin typeface="ui-sans-serif"/>
              </a:rPr>
              <a:t>Training: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Epochs: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 The model was trained for a set number of epochs (e.g., 10-50) depending on the dataset size and convergence behavior.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Batch Size: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 A batch size of 64-128 was used for efficient training.</a:t>
            </a:r>
          </a:p>
          <a:p>
            <a:pPr marL="457200" indent="-457200" algn="l">
              <a:buFont typeface="+mj-lt"/>
              <a:buAutoNum type="arabicPeriod"/>
            </a:pPr>
            <a:endParaRPr lang="en-US" sz="2000" dirty="0">
              <a:solidFill>
                <a:srgbClr val="ECECEC"/>
              </a:solidFill>
              <a:latin typeface="ui-sans-serif"/>
            </a:endParaRPr>
          </a:p>
          <a:p>
            <a:pPr algn="l"/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Evaluation Metrics:</a:t>
            </a:r>
            <a:endParaRPr lang="en-US" sz="2000" b="0" i="0" dirty="0">
              <a:solidFill>
                <a:srgbClr val="ECECEC"/>
              </a:solidFill>
              <a:effectLst/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Mean Squared Error (MSE):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 Measures the average squared difference between the predicted and actual steering angles.</a:t>
            </a:r>
          </a:p>
          <a:p>
            <a:pPr algn="l">
              <a:buFont typeface="+mj-lt"/>
              <a:buAutoNum type="arabicPeriod"/>
            </a:pPr>
            <a:endParaRPr lang="en-US" sz="2000" dirty="0">
              <a:solidFill>
                <a:srgbClr val="ECECEC"/>
              </a:solidFill>
              <a:latin typeface="ui-sans-serif"/>
            </a:endParaRP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ECECEC"/>
              </a:solidFill>
              <a:effectLst/>
              <a:latin typeface="ui-sans-serif"/>
            </a:endParaRPr>
          </a:p>
          <a:p>
            <a:pPr algn="l">
              <a:buFont typeface="+mj-lt"/>
              <a:buAutoNum type="arabicPeriod"/>
            </a:pPr>
            <a:endParaRPr lang="en-US" sz="2000" dirty="0">
              <a:solidFill>
                <a:srgbClr val="ECECEC"/>
              </a:solidFill>
              <a:latin typeface="ui-sans-serif"/>
            </a:endParaRPr>
          </a:p>
          <a:p>
            <a:pPr>
              <a:buFont typeface="+mj-lt"/>
              <a:buAutoNum type="arabicPeriod"/>
            </a:pPr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Accuracy: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 Percentage of predictions that are within a certain threshold of the actual steering angle.</a:t>
            </a:r>
          </a:p>
          <a:p>
            <a:pPr algn="l"/>
            <a:endParaRPr lang="en-US" sz="2000" b="0" i="0" dirty="0">
              <a:solidFill>
                <a:srgbClr val="ECECEC"/>
              </a:solidFill>
              <a:effectLst/>
              <a:latin typeface="ui-sans-serif"/>
            </a:endParaRPr>
          </a:p>
          <a:p>
            <a:pPr algn="just"/>
            <a:endParaRPr lang="en-US" sz="2000" b="1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877382-CD27-2FDC-865C-B5E434C60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580" y="-7709"/>
            <a:ext cx="4809" cy="15389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68FDBD-B6F6-4127-F06E-5761551F1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73" y="4592326"/>
            <a:ext cx="2933700" cy="1085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533C95-CC7E-CBE9-7EB8-2434CE7FE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056" y="1481104"/>
            <a:ext cx="5264407" cy="31383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608D03-26BE-FC8C-4E64-7B17BD1DC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911" y="4940117"/>
            <a:ext cx="2195572" cy="16564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1307DD-DB56-5145-FBAA-A127E2A1C5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948" y="4940116"/>
            <a:ext cx="2177515" cy="1634025"/>
          </a:xfrm>
          <a:prstGeom prst="rect">
            <a:avLst/>
          </a:prstGeom>
        </p:spPr>
      </p:pic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9701C88E-2F02-CFE3-737B-5298DBA8D651}"/>
              </a:ext>
            </a:extLst>
          </p:cNvPr>
          <p:cNvSpPr/>
          <p:nvPr/>
        </p:nvSpPr>
        <p:spPr>
          <a:xfrm>
            <a:off x="9011470" y="5678175"/>
            <a:ext cx="499621" cy="336125"/>
          </a:xfrm>
          <a:prstGeom prst="left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35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A2CB5-0F38-85AD-B394-62C4324D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793CFC-BFA9-3657-53D3-67B74ABA4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F7BAC4-4D55-845B-506B-CB8846A657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8FA01A-2164-E335-1A77-E7BCC1816A08}"/>
              </a:ext>
            </a:extLst>
          </p:cNvPr>
          <p:cNvSpPr txBox="1"/>
          <p:nvPr/>
        </p:nvSpPr>
        <p:spPr>
          <a:xfrm>
            <a:off x="5243576" y="411252"/>
            <a:ext cx="1811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571001F-A56A-FDBC-76D9-BCA52721E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580" y="-7709"/>
            <a:ext cx="4809" cy="15389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81DD5E-A41B-1F8A-9DF2-73F0F157B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35" y="1338044"/>
            <a:ext cx="10514489" cy="1981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DC4776-35CF-5E52-FE76-9FA3EE32F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32" y="3648569"/>
            <a:ext cx="5259262" cy="27981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9BE199-BF9A-71A3-58C3-292F768450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27" y="3648568"/>
            <a:ext cx="5269584" cy="279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5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76AE-B10A-FBC9-9F89-900A981DC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239E07-A938-EABD-4CFD-89372C03D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AF923B-D61B-6527-33E2-024C9E68C1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F6EA48-BFC1-2554-87FD-CCFA2F4B27DD}"/>
              </a:ext>
            </a:extLst>
          </p:cNvPr>
          <p:cNvSpPr txBox="1"/>
          <p:nvPr/>
        </p:nvSpPr>
        <p:spPr>
          <a:xfrm>
            <a:off x="4828399" y="411252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79DC9F-B216-7FDA-AE6D-E345752BE83E}"/>
              </a:ext>
            </a:extLst>
          </p:cNvPr>
          <p:cNvSpPr txBox="1"/>
          <p:nvPr/>
        </p:nvSpPr>
        <p:spPr>
          <a:xfrm>
            <a:off x="2055045" y="1345724"/>
            <a:ext cx="7824246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i="0" dirty="0">
                <a:solidFill>
                  <a:srgbClr val="ECECEC"/>
                </a:solidFill>
                <a:effectLst/>
                <a:latin typeface="ui-sans-serif"/>
              </a:rPr>
              <a:t>Key Findings: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CNNs effectively predict the steering angle of self-driving cars from images.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The ELU activation function enhances training stability and convergence.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b="0" i="0" dirty="0">
              <a:solidFill>
                <a:srgbClr val="ECECEC"/>
              </a:solidFill>
              <a:effectLst/>
              <a:latin typeface="ui-sans-serif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rgbClr val="ECECEC"/>
              </a:solidFill>
              <a:latin typeface="ui-sans-serif"/>
            </a:endParaRPr>
          </a:p>
          <a:p>
            <a:pPr algn="just"/>
            <a:r>
              <a:rPr lang="en-IN" sz="2000" b="1" i="0" dirty="0">
                <a:solidFill>
                  <a:srgbClr val="ECECEC"/>
                </a:solidFill>
                <a:effectLst/>
                <a:latin typeface="ui-sans-serif"/>
              </a:rPr>
              <a:t>Future Work:</a:t>
            </a:r>
            <a:endParaRPr lang="en-US" sz="2000" b="1" i="0" dirty="0">
              <a:solidFill>
                <a:srgbClr val="ECECEC"/>
              </a:solidFill>
              <a:effectLst/>
              <a:latin typeface="ui-sans-serif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Improve model generalization to different driving environments</a:t>
            </a:r>
            <a:r>
              <a:rPr lang="en-US" sz="2000" b="1" dirty="0">
                <a:solidFill>
                  <a:srgbClr val="ECECEC"/>
                </a:solidFill>
                <a:latin typeface="ui-sans-serif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Incorporate more complex sensor data such as lidar or radar for better decision-making.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rgbClr val="ECECEC"/>
              </a:solidFill>
              <a:latin typeface="ui-sans-serif"/>
            </a:endParaRPr>
          </a:p>
          <a:p>
            <a:pPr algn="just"/>
            <a:r>
              <a:rPr lang="en-US" sz="2000" dirty="0">
                <a:solidFill>
                  <a:srgbClr val="ECECEC"/>
                </a:solidFill>
                <a:latin typeface="ui-sans-serif"/>
              </a:rPr>
              <a:t>Our 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project demonstrates the potential of using deep learning and computer vision to solve real-world problems in autonomous driving.</a:t>
            </a:r>
            <a:endParaRPr lang="en-US" sz="2000" b="1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6B09560-9138-CF4A-C334-6593E6805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580" y="-7709"/>
            <a:ext cx="4809" cy="15389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62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2694-7F5C-74E7-BCF5-EE1B8C52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56530B-B460-DCEE-ECE5-E6C9E9A43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E62387-1892-9D00-159E-7EBEB5901C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D11D1-4FF1-078A-35AA-356F133C2EDA}"/>
              </a:ext>
            </a:extLst>
          </p:cNvPr>
          <p:cNvSpPr txBox="1"/>
          <p:nvPr/>
        </p:nvSpPr>
        <p:spPr>
          <a:xfrm>
            <a:off x="4876492" y="411252"/>
            <a:ext cx="2545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0C0F0-5F7C-54B9-4A0C-8DA36DF7A013}"/>
              </a:ext>
            </a:extLst>
          </p:cNvPr>
          <p:cNvSpPr txBox="1"/>
          <p:nvPr/>
        </p:nvSpPr>
        <p:spPr>
          <a:xfrm>
            <a:off x="2045618" y="2222417"/>
            <a:ext cx="78242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Bojarski, M., et al.,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 "End to End Learning for Self-Driving Cars", arXiv:1604.07316, 2016.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Albawi, S., et al.,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 "Understanding of Convolutional Neural Networks," ICET 2017.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Guo, H., et al.,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 "Self-Driving Car Steering Angle Prediction Based on Image Recognition," arXiv:1912.05440, 2019.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i="0" dirty="0">
                <a:solidFill>
                  <a:srgbClr val="ECECEC"/>
                </a:solidFill>
                <a:effectLst/>
                <a:latin typeface="ui-sans-serif"/>
              </a:rPr>
              <a:t>Yang, Z., et al.,</a:t>
            </a:r>
            <a:r>
              <a:rPr lang="en-US" sz="2000" b="0" i="0" dirty="0">
                <a:solidFill>
                  <a:srgbClr val="ECECEC"/>
                </a:solidFill>
                <a:effectLst/>
                <a:latin typeface="ui-sans-serif"/>
              </a:rPr>
              <a:t> "End-to-end Multi-Modal Multi-Task Vehicle Control for Self-Driving Cars," ICPR 2018.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b="1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701BB8B-BD87-0DFA-78CA-D8CB5A9F9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580" y="-7709"/>
            <a:ext cx="4809" cy="15389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801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CF701-8C1A-7C7E-BE24-FE4A2C56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8ED0D8-78BB-A11A-6D90-3FB12B30E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3" b="1015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1A9845-1FBB-8F32-25EC-7D3943832E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  <a:p>
            <a:pPr algn="ctr"/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4FAB9-822F-DB74-E90E-AD4B4CAD8606}"/>
              </a:ext>
            </a:extLst>
          </p:cNvPr>
          <p:cNvSpPr txBox="1"/>
          <p:nvPr/>
        </p:nvSpPr>
        <p:spPr>
          <a:xfrm>
            <a:off x="3307981" y="2909620"/>
            <a:ext cx="44951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 🤝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CE685EB-6B75-C7B7-A752-29305E1B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580" y="-7709"/>
            <a:ext cx="4809" cy="15389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85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670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Tahoma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BARLA SANJAY</dc:creator>
  <cp:lastModifiedBy>BARLA SANJAY</cp:lastModifiedBy>
  <cp:revision>84</cp:revision>
  <dcterms:created xsi:type="dcterms:W3CDTF">2024-11-26T19:31:41Z</dcterms:created>
  <dcterms:modified xsi:type="dcterms:W3CDTF">2024-11-26T21:07:35Z</dcterms:modified>
</cp:coreProperties>
</file>